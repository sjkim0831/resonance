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0" r:id="rId3"/>
    <p:sldId id="265" r:id="rId4"/>
    <p:sldId id="266" r:id="rId5"/>
  </p:sldIdLst>
  <p:sldSz cx="12192000" cy="7920038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9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635"/>
    <a:srgbClr val="FFBC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36" y="84"/>
      </p:cViewPr>
      <p:guideLst>
        <p:guide orient="horz" pos="249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296173"/>
            <a:ext cx="10363200" cy="2757347"/>
          </a:xfrm>
        </p:spPr>
        <p:txBody>
          <a:bodyPr anchor="b"/>
          <a:lstStyle>
            <a:lvl1pPr algn="ctr">
              <a:defRPr sz="6929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854"/>
            <a:ext cx="9144000" cy="1912175"/>
          </a:xfrm>
        </p:spPr>
        <p:txBody>
          <a:bodyPr/>
          <a:lstStyle>
            <a:lvl1pPr marL="0" indent="0" algn="ctr">
              <a:buNone/>
              <a:defRPr sz="2772"/>
            </a:lvl1pPr>
            <a:lvl2pPr marL="528020" indent="0" algn="ctr">
              <a:buNone/>
              <a:defRPr sz="2310"/>
            </a:lvl2pPr>
            <a:lvl3pPr marL="1056041" indent="0" algn="ctr">
              <a:buNone/>
              <a:defRPr sz="2079"/>
            </a:lvl3pPr>
            <a:lvl4pPr marL="1584061" indent="0" algn="ctr">
              <a:buNone/>
              <a:defRPr sz="1848"/>
            </a:lvl4pPr>
            <a:lvl5pPr marL="2112081" indent="0" algn="ctr">
              <a:buNone/>
              <a:defRPr sz="1848"/>
            </a:lvl5pPr>
            <a:lvl6pPr marL="2640101" indent="0" algn="ctr">
              <a:buNone/>
              <a:defRPr sz="1848"/>
            </a:lvl6pPr>
            <a:lvl7pPr marL="3168122" indent="0" algn="ctr">
              <a:buNone/>
              <a:defRPr sz="1848"/>
            </a:lvl7pPr>
            <a:lvl8pPr marL="3696142" indent="0" algn="ctr">
              <a:buNone/>
              <a:defRPr sz="1848"/>
            </a:lvl8pPr>
            <a:lvl9pPr marL="4224162" indent="0" algn="ctr">
              <a:buNone/>
              <a:defRPr sz="1848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070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661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974512"/>
            <a:ext cx="10515600" cy="3294515"/>
          </a:xfrm>
        </p:spPr>
        <p:txBody>
          <a:bodyPr anchor="b"/>
          <a:lstStyle>
            <a:lvl1pPr>
              <a:defRPr sz="6929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300194"/>
            <a:ext cx="10515600" cy="1732508"/>
          </a:xfrm>
        </p:spPr>
        <p:txBody>
          <a:bodyPr/>
          <a:lstStyle>
            <a:lvl1pPr marL="0" indent="0">
              <a:buNone/>
              <a:defRPr sz="2772">
                <a:solidFill>
                  <a:schemeClr val="tx1"/>
                </a:solidFill>
              </a:defRPr>
            </a:lvl1pPr>
            <a:lvl2pPr marL="52802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2pPr>
            <a:lvl3pPr marL="1056041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3pPr>
            <a:lvl4pPr marL="158406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4pPr>
            <a:lvl5pPr marL="211208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5pPr>
            <a:lvl6pPr marL="264010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6pPr>
            <a:lvl7pPr marL="316812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7pPr>
            <a:lvl8pPr marL="369614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8pPr>
            <a:lvl9pPr marL="422416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71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108344"/>
            <a:ext cx="5181600" cy="502519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08344"/>
            <a:ext cx="5181600" cy="502519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42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21671"/>
            <a:ext cx="10515600" cy="1530841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941510"/>
            <a:ext cx="5157787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893014"/>
            <a:ext cx="5157787" cy="42551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941510"/>
            <a:ext cx="5183188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893014"/>
            <a:ext cx="5183188" cy="42551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141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03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46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28002"/>
            <a:ext cx="3932237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40341"/>
            <a:ext cx="6172200" cy="5628360"/>
          </a:xfrm>
        </p:spPr>
        <p:txBody>
          <a:bodyPr/>
          <a:lstStyle>
            <a:lvl1pPr>
              <a:defRPr sz="3696"/>
            </a:lvl1pPr>
            <a:lvl2pPr>
              <a:defRPr sz="3234"/>
            </a:lvl2pPr>
            <a:lvl3pPr>
              <a:defRPr sz="2772"/>
            </a:lvl3pPr>
            <a:lvl4pPr>
              <a:defRPr sz="2310"/>
            </a:lvl4pPr>
            <a:lvl5pPr>
              <a:defRPr sz="2310"/>
            </a:lvl5pPr>
            <a:lvl6pPr>
              <a:defRPr sz="2310"/>
            </a:lvl6pPr>
            <a:lvl7pPr>
              <a:defRPr sz="2310"/>
            </a:lvl7pPr>
            <a:lvl8pPr>
              <a:defRPr sz="2310"/>
            </a:lvl8pPr>
            <a:lvl9pPr>
              <a:defRPr sz="231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76011"/>
            <a:ext cx="3932237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680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28002"/>
            <a:ext cx="3932237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140341"/>
            <a:ext cx="6172200" cy="5628360"/>
          </a:xfrm>
        </p:spPr>
        <p:txBody>
          <a:bodyPr anchor="t"/>
          <a:lstStyle>
            <a:lvl1pPr marL="0" indent="0">
              <a:buNone/>
              <a:defRPr sz="3696"/>
            </a:lvl1pPr>
            <a:lvl2pPr marL="528020" indent="0">
              <a:buNone/>
              <a:defRPr sz="3234"/>
            </a:lvl2pPr>
            <a:lvl3pPr marL="1056041" indent="0">
              <a:buNone/>
              <a:defRPr sz="2772"/>
            </a:lvl3pPr>
            <a:lvl4pPr marL="1584061" indent="0">
              <a:buNone/>
              <a:defRPr sz="2310"/>
            </a:lvl4pPr>
            <a:lvl5pPr marL="2112081" indent="0">
              <a:buNone/>
              <a:defRPr sz="2310"/>
            </a:lvl5pPr>
            <a:lvl6pPr marL="2640101" indent="0">
              <a:buNone/>
              <a:defRPr sz="2310"/>
            </a:lvl6pPr>
            <a:lvl7pPr marL="3168122" indent="0">
              <a:buNone/>
              <a:defRPr sz="2310"/>
            </a:lvl7pPr>
            <a:lvl8pPr marL="3696142" indent="0">
              <a:buNone/>
              <a:defRPr sz="2310"/>
            </a:lvl8pPr>
            <a:lvl9pPr marL="4224162" indent="0">
              <a:buNone/>
              <a:defRPr sz="231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76011"/>
            <a:ext cx="3932237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029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97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21669"/>
            <a:ext cx="2628900" cy="6711866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21669"/>
            <a:ext cx="7734300" cy="6711866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23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21671"/>
            <a:ext cx="10515600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08344"/>
            <a:ext cx="10515600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340703"/>
            <a:ext cx="2743200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15396-234A-46CF-81E4-34292D7D699B}" type="datetimeFigureOut">
              <a:rPr lang="ko-KR" altLang="en-US" smtClean="0"/>
              <a:pPr/>
              <a:t>2018-01-29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340703"/>
            <a:ext cx="4114800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340703"/>
            <a:ext cx="2743200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397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56041" rtl="0" eaLnBrk="1" latinLnBrk="1" hangingPunct="1">
        <a:lnSpc>
          <a:spcPct val="90000"/>
        </a:lnSpc>
        <a:spcBef>
          <a:spcPct val="0"/>
        </a:spcBef>
        <a:buNone/>
        <a:defRPr sz="50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010" indent="-264010" algn="l" defTabSz="1056041" rtl="0" eaLnBrk="1" latinLnBrk="1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3234" kern="1200">
          <a:solidFill>
            <a:schemeClr val="tx1"/>
          </a:solidFill>
          <a:latin typeface="+mn-lt"/>
          <a:ea typeface="+mn-ea"/>
          <a:cs typeface="+mn-cs"/>
        </a:defRPr>
      </a:lvl1pPr>
      <a:lvl2pPr marL="792030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72" kern="1200">
          <a:solidFill>
            <a:schemeClr val="tx1"/>
          </a:solidFill>
          <a:latin typeface="+mn-lt"/>
          <a:ea typeface="+mn-ea"/>
          <a:cs typeface="+mn-cs"/>
        </a:defRPr>
      </a:lvl2pPr>
      <a:lvl3pPr marL="1320051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3pPr>
      <a:lvl4pPr marL="1848071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376091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904112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432132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960152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488172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1pPr>
      <a:lvl2pPr marL="528020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1056041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3pPr>
      <a:lvl4pPr marL="1584061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112081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640101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168122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696142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224162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47874" y="1402746"/>
            <a:ext cx="8143875" cy="1530841"/>
          </a:xfrm>
        </p:spPr>
        <p:txBody>
          <a:bodyPr/>
          <a:lstStyle/>
          <a:p>
            <a:r>
              <a:rPr lang="en-US" altLang="ko-KR" smtClean="0"/>
              <a:t>0000 </a:t>
            </a:r>
            <a:r>
              <a:rPr lang="ko-KR" altLang="en-US" smtClean="0"/>
              <a:t>네트워크 공사계획서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52624" y="3686176"/>
            <a:ext cx="8934451" cy="27241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mtClean="0"/>
              <a:t>계획서 제출일 </a:t>
            </a:r>
            <a:r>
              <a:rPr lang="en-US" altLang="ko-KR" smtClean="0"/>
              <a:t>: 2018</a:t>
            </a:r>
            <a:r>
              <a:rPr lang="ko-KR" altLang="en-US" smtClean="0"/>
              <a:t>년 </a:t>
            </a:r>
            <a:r>
              <a:rPr lang="en-US" altLang="ko-KR" smtClean="0"/>
              <a:t>0</a:t>
            </a:r>
            <a:r>
              <a:rPr lang="ko-KR" altLang="en-US" smtClean="0"/>
              <a:t>월 </a:t>
            </a:r>
            <a:r>
              <a:rPr lang="en-US" altLang="ko-KR" smtClean="0"/>
              <a:t>0</a:t>
            </a:r>
            <a:r>
              <a:rPr lang="ko-KR" altLang="en-US" smtClean="0"/>
              <a:t>일</a:t>
            </a: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ko-KR" altLang="en-US" smtClean="0"/>
              <a:t>공사기간 </a:t>
            </a:r>
            <a:r>
              <a:rPr lang="en-US" altLang="ko-KR" smtClean="0"/>
              <a:t>: 0</a:t>
            </a:r>
            <a:r>
              <a:rPr lang="ko-KR" altLang="en-US" smtClean="0"/>
              <a:t>월 </a:t>
            </a:r>
            <a:r>
              <a:rPr lang="en-US" altLang="ko-KR" smtClean="0"/>
              <a:t>0</a:t>
            </a:r>
            <a:r>
              <a:rPr lang="ko-KR" altLang="en-US" smtClean="0"/>
              <a:t>일 </a:t>
            </a:r>
            <a:r>
              <a:rPr lang="en-US" altLang="ko-KR" smtClean="0"/>
              <a:t>~ 0</a:t>
            </a:r>
            <a:r>
              <a:rPr lang="ko-KR" altLang="en-US" smtClean="0"/>
              <a:t>일 </a:t>
            </a:r>
            <a:r>
              <a:rPr lang="en-US" altLang="ko-KR" smtClean="0"/>
              <a:t>(</a:t>
            </a:r>
            <a:r>
              <a:rPr lang="ko-KR" altLang="en-US" smtClean="0"/>
              <a:t>총 </a:t>
            </a:r>
            <a:r>
              <a:rPr lang="en-US" altLang="ko-KR" smtClean="0"/>
              <a:t>0</a:t>
            </a:r>
            <a:r>
              <a:rPr lang="ko-KR" altLang="en-US" smtClean="0"/>
              <a:t>일</a:t>
            </a:r>
            <a:r>
              <a:rPr lang="en-US" altLang="ko-KR" smtClean="0"/>
              <a:t>)  or </a:t>
            </a:r>
            <a:r>
              <a:rPr lang="ko-KR" altLang="en-US" smtClean="0"/>
              <a:t>협의</a:t>
            </a: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ko-KR" altLang="en-US" smtClean="0"/>
              <a:t>제출자 </a:t>
            </a:r>
            <a:r>
              <a:rPr lang="en-US" altLang="ko-KR" smtClean="0"/>
              <a:t>: </a:t>
            </a:r>
            <a:r>
              <a:rPr lang="ko-KR" altLang="en-US" smtClean="0"/>
              <a:t>㈜</a:t>
            </a:r>
            <a:r>
              <a:rPr lang="en-US" altLang="ko-KR" smtClean="0"/>
              <a:t>00000</a:t>
            </a:r>
          </a:p>
          <a:p>
            <a:pPr>
              <a:lnSpc>
                <a:spcPct val="150000"/>
              </a:lnSpc>
            </a:pPr>
            <a:endParaRPr lang="en-US" altLang="ko-KR" smtClean="0"/>
          </a:p>
          <a:p>
            <a:pPr>
              <a:lnSpc>
                <a:spcPct val="150000"/>
              </a:lnSpc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269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3756" t="18478" r="12199" b="18175"/>
          <a:stretch/>
        </p:blipFill>
        <p:spPr>
          <a:xfrm>
            <a:off x="300263" y="1037309"/>
            <a:ext cx="8376188" cy="44437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927606"/>
              </p:ext>
            </p:extLst>
          </p:nvPr>
        </p:nvGraphicFramePr>
        <p:xfrm>
          <a:off x="8906200" y="927712"/>
          <a:ext cx="3025140" cy="4671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919102175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704467390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1754126437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3925899619"/>
                    </a:ext>
                  </a:extLst>
                </a:gridCol>
              </a:tblGrid>
              <a:tr h="3578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구분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기호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단위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수량</a:t>
                      </a:r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79303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UTP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100m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654358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STP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100m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4355155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전기케이블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100m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976640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HI-BOX</a:t>
                      </a:r>
                    </a:p>
                    <a:p>
                      <a:pPr algn="ctr" latinLnBrk="1"/>
                      <a:r>
                        <a:rPr lang="en-US" altLang="ko-KR" sz="1200" b="1" smtClean="0"/>
                        <a:t>(</a:t>
                      </a:r>
                      <a:r>
                        <a:rPr lang="ko-KR" altLang="en-US" sz="1200" b="1" smtClean="0"/>
                        <a:t>허브</a:t>
                      </a:r>
                      <a:r>
                        <a:rPr lang="en-US" altLang="ko-KR" sz="1200" b="1" smtClean="0"/>
                        <a:t>)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52600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공유기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1054381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무선</a:t>
                      </a:r>
                      <a:r>
                        <a:rPr lang="en-US" altLang="ko-KR" sz="1200" b="1" smtClean="0"/>
                        <a:t>AP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24516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기타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5588136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기타</a:t>
                      </a:r>
                      <a:r>
                        <a:rPr lang="en-US" altLang="ko-KR" sz="1200" b="1" smtClean="0"/>
                        <a:t>.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218675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Point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6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68942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Main</a:t>
                      </a:r>
                    </a:p>
                    <a:p>
                      <a:pPr algn="ctr" latinLnBrk="1"/>
                      <a:r>
                        <a:rPr lang="ko-KR" altLang="en-US" sz="1200" smtClean="0"/>
                        <a:t>공유기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6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7085"/>
                  </a:ext>
                </a:extLst>
              </a:tr>
            </a:tbl>
          </a:graphicData>
        </a:graphic>
      </p:graphicFrame>
      <p:cxnSp>
        <p:nvCxnSpPr>
          <p:cNvPr id="23" name="직선 연결선 22"/>
          <p:cNvCxnSpPr/>
          <p:nvPr/>
        </p:nvCxnSpPr>
        <p:spPr>
          <a:xfrm flipV="1">
            <a:off x="6791278" y="4820720"/>
            <a:ext cx="1651065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V="1">
            <a:off x="9698628" y="1465278"/>
            <a:ext cx="700213" cy="762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rot="5400000" flipV="1">
            <a:off x="7724065" y="4334565"/>
            <a:ext cx="1651065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rot="16200000" flipV="1">
            <a:off x="354713" y="3899418"/>
            <a:ext cx="1651065" cy="7620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9698628" y="2303928"/>
            <a:ext cx="700213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V="1">
            <a:off x="1168366" y="4605401"/>
            <a:ext cx="3993999" cy="24524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V="1">
            <a:off x="9698628" y="1875950"/>
            <a:ext cx="700213" cy="762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림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001" y="3512842"/>
            <a:ext cx="338850" cy="32674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8993" y="3047960"/>
            <a:ext cx="492987" cy="374464"/>
          </a:xfrm>
          <a:prstGeom prst="rect">
            <a:avLst/>
          </a:prstGeom>
        </p:spPr>
      </p:pic>
      <p:grpSp>
        <p:nvGrpSpPr>
          <p:cNvPr id="49" name="그룹 48"/>
          <p:cNvGrpSpPr/>
          <p:nvPr/>
        </p:nvGrpSpPr>
        <p:grpSpPr>
          <a:xfrm>
            <a:off x="6734630" y="2277516"/>
            <a:ext cx="528114" cy="343845"/>
            <a:chOff x="5831943" y="1411165"/>
            <a:chExt cx="528114" cy="343845"/>
          </a:xfrm>
        </p:grpSpPr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1-01</a:t>
              </a:r>
              <a:endParaRPr lang="ko-KR" altLang="en-US" sz="900" b="1"/>
            </a:p>
          </p:txBody>
        </p:sp>
      </p:grpSp>
      <p:graphicFrame>
        <p:nvGraphicFramePr>
          <p:cNvPr id="50" name="표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897635"/>
              </p:ext>
            </p:extLst>
          </p:nvPr>
        </p:nvGraphicFramePr>
        <p:xfrm>
          <a:off x="300264" y="5627495"/>
          <a:ext cx="1161098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543">
                  <a:extLst>
                    <a:ext uri="{9D8B030D-6E8A-4147-A177-3AD203B41FA5}">
                      <a16:colId xmlns:a16="http://schemas.microsoft.com/office/drawing/2014/main" val="823192170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054864963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34658470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996741434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29236207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572809907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2727405988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29285331"/>
                    </a:ext>
                  </a:extLst>
                </a:gridCol>
                <a:gridCol w="450698">
                  <a:extLst>
                    <a:ext uri="{9D8B030D-6E8A-4147-A177-3AD203B41FA5}">
                      <a16:colId xmlns:a16="http://schemas.microsoft.com/office/drawing/2014/main" val="2410904536"/>
                    </a:ext>
                  </a:extLst>
                </a:gridCol>
                <a:gridCol w="604846">
                  <a:extLst>
                    <a:ext uri="{9D8B030D-6E8A-4147-A177-3AD203B41FA5}">
                      <a16:colId xmlns:a16="http://schemas.microsoft.com/office/drawing/2014/main" val="1691921175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2906100793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0124815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731450017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601761706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732772209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523539211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43224731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468034055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173956341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119038276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079252770"/>
                    </a:ext>
                  </a:extLst>
                </a:gridCol>
              </a:tblGrid>
              <a:tr h="226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HI-BOX NO.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1-01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1-02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1-03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…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2-01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2-02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…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3-01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3-02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…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808592"/>
                  </a:ext>
                </a:extLst>
              </a:tr>
              <a:tr h="201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허브 제조사</a:t>
                      </a:r>
                      <a:endParaRPr lang="ko-KR" altLang="en-US" sz="10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ipTIME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ipTIME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ipTIME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0733"/>
                  </a:ext>
                </a:extLst>
              </a:tr>
              <a:tr h="201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포트 수</a:t>
                      </a:r>
                      <a:endParaRPr lang="ko-KR" altLang="en-US" sz="10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980564"/>
                  </a:ext>
                </a:extLst>
              </a:tr>
              <a:tr h="579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LAN</a:t>
                      </a:r>
                      <a:r>
                        <a:rPr lang="en-US" altLang="ko-KR" sz="1000" baseline="0" smtClean="0"/>
                        <a:t> NO.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1-1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1-2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2-1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3-1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3-2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4-1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4-2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778621"/>
                  </a:ext>
                </a:extLst>
              </a:tr>
              <a:tr h="201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비고</a:t>
                      </a:r>
                      <a:endParaRPr lang="ko-KR" altLang="en-US" sz="10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1- </a:t>
                      </a:r>
                      <a:r>
                        <a:rPr lang="ko-KR" altLang="en-US" sz="1000" smtClean="0">
                          <a:solidFill>
                            <a:srgbClr val="FF0000"/>
                          </a:solidFill>
                        </a:rPr>
                        <a:t>보온로</a:t>
                      </a:r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  <a:p>
                      <a:pPr algn="l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2- </a:t>
                      </a:r>
                      <a:r>
                        <a:rPr lang="ko-KR" altLang="en-US" sz="1000" smtClean="0">
                          <a:solidFill>
                            <a:srgbClr val="FF0000"/>
                          </a:solidFill>
                        </a:rPr>
                        <a:t>주조기</a:t>
                      </a:r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  <a:p>
                      <a:pPr algn="l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3-</a:t>
                      </a:r>
                      <a:r>
                        <a:rPr lang="en-US" altLang="ko-KR" sz="1000" baseline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smtClean="0">
                          <a:solidFill>
                            <a:srgbClr val="FF0000"/>
                          </a:solidFill>
                        </a:rPr>
                        <a:t>냉각수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4-</a:t>
                      </a:r>
                      <a:r>
                        <a:rPr lang="en-US" altLang="ko-KR" sz="1000" baseline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smtClean="0">
                          <a:solidFill>
                            <a:srgbClr val="FF0000"/>
                          </a:solidFill>
                        </a:rPr>
                        <a:t>용해로</a:t>
                      </a:r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  <a:p>
                      <a:pPr algn="l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5- GBF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294231"/>
                  </a:ext>
                </a:extLst>
              </a:tr>
            </a:tbl>
          </a:graphicData>
        </a:graphic>
      </p:graphicFrame>
      <p:grpSp>
        <p:nvGrpSpPr>
          <p:cNvPr id="55" name="그룹 54"/>
          <p:cNvGrpSpPr/>
          <p:nvPr/>
        </p:nvGrpSpPr>
        <p:grpSpPr>
          <a:xfrm>
            <a:off x="9724910" y="2606440"/>
            <a:ext cx="528114" cy="343845"/>
            <a:chOff x="5831943" y="1411165"/>
            <a:chExt cx="528114" cy="343845"/>
          </a:xfrm>
        </p:grpSpPr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x-xx</a:t>
              </a:r>
              <a:endParaRPr lang="ko-KR" altLang="en-US" sz="900" b="1"/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300263" y="301860"/>
            <a:ext cx="721496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/>
              <a:t>OOOO </a:t>
            </a:r>
            <a:r>
              <a:rPr lang="ko-KR" altLang="en-US"/>
              <a:t>네트워크 구성도 </a:t>
            </a:r>
            <a:r>
              <a:rPr lang="en-US" altLang="ko-KR"/>
              <a:t>(LAY-OUT)</a:t>
            </a:r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10546036" y="326663"/>
            <a:ext cx="137577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/>
              <a:t>PAGE </a:t>
            </a:r>
            <a:r>
              <a:rPr lang="en-US" altLang="ko-KR" smtClean="0"/>
              <a:t>1/3</a:t>
            </a:r>
            <a:endParaRPr lang="ko-KR" altLang="en-US"/>
          </a:p>
        </p:txBody>
      </p:sp>
      <p:grpSp>
        <p:nvGrpSpPr>
          <p:cNvPr id="63" name="그룹 62"/>
          <p:cNvGrpSpPr/>
          <p:nvPr/>
        </p:nvGrpSpPr>
        <p:grpSpPr>
          <a:xfrm>
            <a:off x="4099604" y="4289850"/>
            <a:ext cx="528114" cy="343845"/>
            <a:chOff x="5831943" y="1411165"/>
            <a:chExt cx="528114" cy="343845"/>
          </a:xfrm>
        </p:grpSpPr>
        <p:pic>
          <p:nvPicPr>
            <p:cNvPr id="64" name="그림 63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1-02</a:t>
              </a:r>
              <a:endParaRPr lang="ko-KR" altLang="en-US" sz="900" b="1"/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2550690" y="4303305"/>
            <a:ext cx="528114" cy="343845"/>
            <a:chOff x="5831943" y="1411165"/>
            <a:chExt cx="528114" cy="343845"/>
          </a:xfrm>
        </p:grpSpPr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1-03</a:t>
              </a:r>
              <a:endParaRPr lang="ko-KR" altLang="en-US" sz="900" b="1"/>
            </a:p>
          </p:txBody>
        </p:sp>
      </p:grpSp>
      <p:cxnSp>
        <p:nvCxnSpPr>
          <p:cNvPr id="69" name="직선 연결선 68"/>
          <p:cNvCxnSpPr/>
          <p:nvPr/>
        </p:nvCxnSpPr>
        <p:spPr>
          <a:xfrm rot="16200000" flipV="1">
            <a:off x="4327813" y="3783678"/>
            <a:ext cx="1651065" cy="7620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 flipH="1" flipV="1">
            <a:off x="7616811" y="2721223"/>
            <a:ext cx="7620" cy="281438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 flipV="1">
            <a:off x="5149535" y="2978859"/>
            <a:ext cx="2467277" cy="23802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 flipV="1">
            <a:off x="7001379" y="2609068"/>
            <a:ext cx="10439" cy="39359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 flipV="1">
            <a:off x="7690761" y="5012070"/>
            <a:ext cx="700213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 rot="5400000" flipV="1">
            <a:off x="6684570" y="1979380"/>
            <a:ext cx="636557" cy="29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타원 78"/>
          <p:cNvSpPr/>
          <p:nvPr/>
        </p:nvSpPr>
        <p:spPr>
          <a:xfrm flipV="1">
            <a:off x="7539070" y="2630568"/>
            <a:ext cx="170723" cy="1561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80" name="그림 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40" y="3002661"/>
            <a:ext cx="338850" cy="326748"/>
          </a:xfrm>
          <a:prstGeom prst="rect">
            <a:avLst/>
          </a:prstGeom>
        </p:spPr>
      </p:pic>
      <p:pic>
        <p:nvPicPr>
          <p:cNvPr id="81" name="그림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534" y="3020804"/>
            <a:ext cx="338850" cy="326748"/>
          </a:xfrm>
          <a:prstGeom prst="rect">
            <a:avLst/>
          </a:prstGeom>
        </p:spPr>
      </p:pic>
      <p:cxnSp>
        <p:nvCxnSpPr>
          <p:cNvPr id="83" name="직선 연결선 82"/>
          <p:cNvCxnSpPr/>
          <p:nvPr/>
        </p:nvCxnSpPr>
        <p:spPr>
          <a:xfrm>
            <a:off x="1229516" y="3178298"/>
            <a:ext cx="1935849" cy="5881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타원 86"/>
          <p:cNvSpPr/>
          <p:nvPr/>
        </p:nvSpPr>
        <p:spPr>
          <a:xfrm flipV="1">
            <a:off x="9949925" y="5291568"/>
            <a:ext cx="170723" cy="1561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90" name="꺾인 연결선 89"/>
          <p:cNvCxnSpPr>
            <a:endCxn id="67" idx="0"/>
          </p:cNvCxnSpPr>
          <p:nvPr/>
        </p:nvCxnSpPr>
        <p:spPr>
          <a:xfrm rot="16200000" flipH="1">
            <a:off x="2405378" y="3893933"/>
            <a:ext cx="569501" cy="249240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endCxn id="67" idx="0"/>
          </p:cNvCxnSpPr>
          <p:nvPr/>
        </p:nvCxnSpPr>
        <p:spPr>
          <a:xfrm rot="5400000">
            <a:off x="2522636" y="3913999"/>
            <a:ext cx="681419" cy="97193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 97"/>
          <p:cNvCxnSpPr/>
          <p:nvPr/>
        </p:nvCxnSpPr>
        <p:spPr>
          <a:xfrm rot="16200000" flipH="1">
            <a:off x="4008889" y="3921113"/>
            <a:ext cx="564022" cy="189404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꺾인 연결선 98"/>
          <p:cNvCxnSpPr/>
          <p:nvPr/>
        </p:nvCxnSpPr>
        <p:spPr>
          <a:xfrm rot="5400000">
            <a:off x="4093490" y="3908522"/>
            <a:ext cx="681419" cy="97193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타원 102"/>
          <p:cNvSpPr/>
          <p:nvPr/>
        </p:nvSpPr>
        <p:spPr>
          <a:xfrm flipV="1">
            <a:off x="9949925" y="4869490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4" name="타원 103"/>
          <p:cNvSpPr/>
          <p:nvPr/>
        </p:nvSpPr>
        <p:spPr>
          <a:xfrm flipV="1">
            <a:off x="2472939" y="3641865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5" name="타원 104"/>
          <p:cNvSpPr/>
          <p:nvPr/>
        </p:nvSpPr>
        <p:spPr>
          <a:xfrm flipV="1">
            <a:off x="2826580" y="3538359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6" name="타원 105"/>
          <p:cNvSpPr/>
          <p:nvPr/>
        </p:nvSpPr>
        <p:spPr>
          <a:xfrm flipV="1">
            <a:off x="4090175" y="3641865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7" name="타원 106"/>
          <p:cNvSpPr/>
          <p:nvPr/>
        </p:nvSpPr>
        <p:spPr>
          <a:xfrm flipV="1">
            <a:off x="4377657" y="3576107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8" name="타원 107"/>
          <p:cNvSpPr/>
          <p:nvPr/>
        </p:nvSpPr>
        <p:spPr>
          <a:xfrm flipV="1">
            <a:off x="6412408" y="2358243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9" name="타원 108"/>
          <p:cNvSpPr/>
          <p:nvPr/>
        </p:nvSpPr>
        <p:spPr>
          <a:xfrm flipV="1">
            <a:off x="5663956" y="2447723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10" name="꺾인 연결선 109"/>
          <p:cNvCxnSpPr>
            <a:stCxn id="109" idx="7"/>
            <a:endCxn id="48" idx="1"/>
          </p:cNvCxnSpPr>
          <p:nvPr/>
        </p:nvCxnSpPr>
        <p:spPr>
          <a:xfrm rot="5400000" flipH="1" flipV="1">
            <a:off x="6213119" y="2059452"/>
            <a:ext cx="118068" cy="924953"/>
          </a:xfrm>
          <a:prstGeom prst="bentConnector4">
            <a:avLst>
              <a:gd name="adj1" fmla="val -193617"/>
              <a:gd name="adj2" fmla="val 51351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꺾인 연결선 110"/>
          <p:cNvCxnSpPr>
            <a:endCxn id="48" idx="1"/>
          </p:cNvCxnSpPr>
          <p:nvPr/>
        </p:nvCxnSpPr>
        <p:spPr>
          <a:xfrm rot="16200000" flipV="1">
            <a:off x="6728592" y="2468934"/>
            <a:ext cx="140929" cy="128852"/>
          </a:xfrm>
          <a:prstGeom prst="bentConnector4">
            <a:avLst>
              <a:gd name="adj1" fmla="val 25431"/>
              <a:gd name="adj2" fmla="val 277413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2643662" y="1662570"/>
            <a:ext cx="3299938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smtClean="0"/>
              <a:t>예시화면</a:t>
            </a:r>
            <a:endParaRPr lang="ko-KR" altLang="en-US" sz="2800"/>
          </a:p>
        </p:txBody>
      </p:sp>
    </p:spTree>
    <p:extLst>
      <p:ext uri="{BB962C8B-B14F-4D97-AF65-F5344CB8AC3E}">
        <p14:creationId xmlns:p14="http://schemas.microsoft.com/office/powerpoint/2010/main" val="585381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3756" t="18478" r="12199" b="18175"/>
          <a:stretch/>
        </p:blipFill>
        <p:spPr>
          <a:xfrm>
            <a:off x="300263" y="1037309"/>
            <a:ext cx="8376188" cy="44437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34" name="표 33"/>
          <p:cNvGraphicFramePr>
            <a:graphicFrameLocks noGrp="1"/>
          </p:cNvGraphicFramePr>
          <p:nvPr>
            <p:extLst/>
          </p:nvPr>
        </p:nvGraphicFramePr>
        <p:xfrm>
          <a:off x="8906200" y="927712"/>
          <a:ext cx="3025140" cy="4671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919102175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704467390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1754126437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3925899619"/>
                    </a:ext>
                  </a:extLst>
                </a:gridCol>
              </a:tblGrid>
              <a:tr h="3578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구분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기호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단위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수량</a:t>
                      </a:r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79303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UTP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100m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654358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STP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100m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4355155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전기케이블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100m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976640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HI-BOX</a:t>
                      </a:r>
                    </a:p>
                    <a:p>
                      <a:pPr algn="ctr" latinLnBrk="1"/>
                      <a:r>
                        <a:rPr lang="en-US" altLang="ko-KR" sz="1200" b="1" smtClean="0"/>
                        <a:t>(</a:t>
                      </a:r>
                      <a:r>
                        <a:rPr lang="ko-KR" altLang="en-US" sz="1200" b="1" smtClean="0"/>
                        <a:t>허브</a:t>
                      </a:r>
                      <a:r>
                        <a:rPr lang="en-US" altLang="ko-KR" sz="1200" b="1" smtClean="0"/>
                        <a:t>)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52600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공유기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1054381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무선</a:t>
                      </a:r>
                      <a:r>
                        <a:rPr lang="en-US" altLang="ko-KR" sz="1200" b="1" smtClean="0"/>
                        <a:t>AP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24516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기타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5588136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기타</a:t>
                      </a:r>
                      <a:r>
                        <a:rPr lang="en-US" altLang="ko-KR" sz="1200" b="1" smtClean="0"/>
                        <a:t>.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218675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Point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6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68942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Main</a:t>
                      </a:r>
                    </a:p>
                    <a:p>
                      <a:pPr algn="ctr" latinLnBrk="1"/>
                      <a:r>
                        <a:rPr lang="ko-KR" altLang="en-US" sz="1200" smtClean="0"/>
                        <a:t>공유기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6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7085"/>
                  </a:ext>
                </a:extLst>
              </a:tr>
            </a:tbl>
          </a:graphicData>
        </a:graphic>
      </p:graphicFrame>
      <p:cxnSp>
        <p:nvCxnSpPr>
          <p:cNvPr id="23" name="직선 연결선 22"/>
          <p:cNvCxnSpPr/>
          <p:nvPr/>
        </p:nvCxnSpPr>
        <p:spPr>
          <a:xfrm flipV="1">
            <a:off x="6791278" y="4820720"/>
            <a:ext cx="1651065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V="1">
            <a:off x="9698628" y="1465278"/>
            <a:ext cx="700213" cy="762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rot="5400000" flipV="1">
            <a:off x="7724065" y="4334565"/>
            <a:ext cx="1651065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rot="16200000" flipV="1">
            <a:off x="354713" y="3899418"/>
            <a:ext cx="1651065" cy="7620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9698628" y="2303928"/>
            <a:ext cx="700213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V="1">
            <a:off x="1168366" y="4605401"/>
            <a:ext cx="3993999" cy="24524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V="1">
            <a:off x="9698628" y="1875950"/>
            <a:ext cx="700213" cy="762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림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001" y="3512842"/>
            <a:ext cx="338850" cy="32674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8993" y="3047960"/>
            <a:ext cx="492987" cy="374464"/>
          </a:xfrm>
          <a:prstGeom prst="rect">
            <a:avLst/>
          </a:prstGeom>
        </p:spPr>
      </p:pic>
      <p:grpSp>
        <p:nvGrpSpPr>
          <p:cNvPr id="49" name="그룹 48"/>
          <p:cNvGrpSpPr/>
          <p:nvPr/>
        </p:nvGrpSpPr>
        <p:grpSpPr>
          <a:xfrm>
            <a:off x="6734630" y="2277516"/>
            <a:ext cx="528114" cy="343845"/>
            <a:chOff x="5831943" y="1411165"/>
            <a:chExt cx="528114" cy="343845"/>
          </a:xfrm>
        </p:grpSpPr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1-01</a:t>
              </a:r>
              <a:endParaRPr lang="ko-KR" altLang="en-US" sz="900" b="1"/>
            </a:p>
          </p:txBody>
        </p:sp>
      </p:grpSp>
      <p:graphicFrame>
        <p:nvGraphicFramePr>
          <p:cNvPr id="50" name="표 49"/>
          <p:cNvGraphicFramePr>
            <a:graphicFrameLocks noGrp="1"/>
          </p:cNvGraphicFramePr>
          <p:nvPr>
            <p:extLst/>
          </p:nvPr>
        </p:nvGraphicFramePr>
        <p:xfrm>
          <a:off x="300264" y="5627495"/>
          <a:ext cx="1161098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543">
                  <a:extLst>
                    <a:ext uri="{9D8B030D-6E8A-4147-A177-3AD203B41FA5}">
                      <a16:colId xmlns:a16="http://schemas.microsoft.com/office/drawing/2014/main" val="823192170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054864963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34658470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996741434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29236207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572809907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2727405988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29285331"/>
                    </a:ext>
                  </a:extLst>
                </a:gridCol>
                <a:gridCol w="450698">
                  <a:extLst>
                    <a:ext uri="{9D8B030D-6E8A-4147-A177-3AD203B41FA5}">
                      <a16:colId xmlns:a16="http://schemas.microsoft.com/office/drawing/2014/main" val="2410904536"/>
                    </a:ext>
                  </a:extLst>
                </a:gridCol>
                <a:gridCol w="604846">
                  <a:extLst>
                    <a:ext uri="{9D8B030D-6E8A-4147-A177-3AD203B41FA5}">
                      <a16:colId xmlns:a16="http://schemas.microsoft.com/office/drawing/2014/main" val="1691921175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2906100793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0124815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731450017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601761706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732772209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523539211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43224731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468034055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173956341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119038276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079252770"/>
                    </a:ext>
                  </a:extLst>
                </a:gridCol>
              </a:tblGrid>
              <a:tr h="226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HI-BOX NO.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1-01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1-02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1-03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…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2-01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2-02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…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3-01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3-02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…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808592"/>
                  </a:ext>
                </a:extLst>
              </a:tr>
              <a:tr h="201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허브 제조사</a:t>
                      </a:r>
                      <a:endParaRPr lang="ko-KR" altLang="en-US" sz="10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ipTIME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ipTIME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ipTIME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0733"/>
                  </a:ext>
                </a:extLst>
              </a:tr>
              <a:tr h="201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포트 수</a:t>
                      </a:r>
                      <a:endParaRPr lang="ko-KR" altLang="en-US" sz="10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980564"/>
                  </a:ext>
                </a:extLst>
              </a:tr>
              <a:tr h="579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LAN</a:t>
                      </a:r>
                      <a:r>
                        <a:rPr lang="en-US" altLang="ko-KR" sz="1000" baseline="0" smtClean="0"/>
                        <a:t> NO.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1-1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1-2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2-1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3-1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3-2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4-1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4-2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778621"/>
                  </a:ext>
                </a:extLst>
              </a:tr>
              <a:tr h="201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비고</a:t>
                      </a:r>
                      <a:endParaRPr lang="ko-KR" altLang="en-US" sz="10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1- </a:t>
                      </a:r>
                      <a:r>
                        <a:rPr lang="ko-KR" altLang="en-US" sz="1000" smtClean="0">
                          <a:solidFill>
                            <a:srgbClr val="FF0000"/>
                          </a:solidFill>
                        </a:rPr>
                        <a:t>보온로</a:t>
                      </a:r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  <a:p>
                      <a:pPr algn="l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2- </a:t>
                      </a:r>
                      <a:r>
                        <a:rPr lang="ko-KR" altLang="en-US" sz="1000" smtClean="0">
                          <a:solidFill>
                            <a:srgbClr val="FF0000"/>
                          </a:solidFill>
                        </a:rPr>
                        <a:t>주조기</a:t>
                      </a:r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  <a:p>
                      <a:pPr algn="l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3-</a:t>
                      </a:r>
                      <a:r>
                        <a:rPr lang="en-US" altLang="ko-KR" sz="1000" baseline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smtClean="0">
                          <a:solidFill>
                            <a:srgbClr val="FF0000"/>
                          </a:solidFill>
                        </a:rPr>
                        <a:t>냉각수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4-</a:t>
                      </a:r>
                      <a:r>
                        <a:rPr lang="en-US" altLang="ko-KR" sz="1000" baseline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smtClean="0">
                          <a:solidFill>
                            <a:srgbClr val="FF0000"/>
                          </a:solidFill>
                        </a:rPr>
                        <a:t>용해로</a:t>
                      </a:r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  <a:p>
                      <a:pPr algn="l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5- GBF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294231"/>
                  </a:ext>
                </a:extLst>
              </a:tr>
            </a:tbl>
          </a:graphicData>
        </a:graphic>
      </p:graphicFrame>
      <p:grpSp>
        <p:nvGrpSpPr>
          <p:cNvPr id="55" name="그룹 54"/>
          <p:cNvGrpSpPr/>
          <p:nvPr/>
        </p:nvGrpSpPr>
        <p:grpSpPr>
          <a:xfrm>
            <a:off x="9724910" y="2606440"/>
            <a:ext cx="528114" cy="343845"/>
            <a:chOff x="5831943" y="1411165"/>
            <a:chExt cx="528114" cy="343845"/>
          </a:xfrm>
        </p:grpSpPr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x-xx</a:t>
              </a:r>
              <a:endParaRPr lang="ko-KR" altLang="en-US" sz="900" b="1"/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300263" y="301860"/>
            <a:ext cx="721496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/>
              <a:t>OOOO </a:t>
            </a:r>
            <a:r>
              <a:rPr lang="ko-KR" altLang="en-US"/>
              <a:t>네트워크 구성도 </a:t>
            </a:r>
            <a:r>
              <a:rPr lang="en-US" altLang="ko-KR"/>
              <a:t>(LAY-OUT)</a:t>
            </a:r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10546036" y="326663"/>
            <a:ext cx="137577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/>
              <a:t>PAGE </a:t>
            </a:r>
            <a:r>
              <a:rPr lang="en-US" altLang="ko-KR"/>
              <a:t>2</a:t>
            </a:r>
            <a:r>
              <a:rPr lang="en-US" altLang="ko-KR" smtClean="0"/>
              <a:t>/3</a:t>
            </a:r>
            <a:endParaRPr lang="ko-KR" altLang="en-US"/>
          </a:p>
        </p:txBody>
      </p:sp>
      <p:grpSp>
        <p:nvGrpSpPr>
          <p:cNvPr id="63" name="그룹 62"/>
          <p:cNvGrpSpPr/>
          <p:nvPr/>
        </p:nvGrpSpPr>
        <p:grpSpPr>
          <a:xfrm>
            <a:off x="4099604" y="4289850"/>
            <a:ext cx="528114" cy="343845"/>
            <a:chOff x="5831943" y="1411165"/>
            <a:chExt cx="528114" cy="343845"/>
          </a:xfrm>
        </p:grpSpPr>
        <p:pic>
          <p:nvPicPr>
            <p:cNvPr id="64" name="그림 63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1-02</a:t>
              </a:r>
              <a:endParaRPr lang="ko-KR" altLang="en-US" sz="900" b="1"/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2550690" y="4303305"/>
            <a:ext cx="528114" cy="343845"/>
            <a:chOff x="5831943" y="1411165"/>
            <a:chExt cx="528114" cy="343845"/>
          </a:xfrm>
        </p:grpSpPr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1-03</a:t>
              </a:r>
              <a:endParaRPr lang="ko-KR" altLang="en-US" sz="900" b="1"/>
            </a:p>
          </p:txBody>
        </p:sp>
      </p:grpSp>
      <p:cxnSp>
        <p:nvCxnSpPr>
          <p:cNvPr id="69" name="직선 연결선 68"/>
          <p:cNvCxnSpPr/>
          <p:nvPr/>
        </p:nvCxnSpPr>
        <p:spPr>
          <a:xfrm rot="16200000" flipV="1">
            <a:off x="4327813" y="3783678"/>
            <a:ext cx="1651065" cy="7620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 flipH="1" flipV="1">
            <a:off x="7616811" y="2721223"/>
            <a:ext cx="7620" cy="281438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 flipV="1">
            <a:off x="5149535" y="2978859"/>
            <a:ext cx="2467277" cy="23802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 flipV="1">
            <a:off x="7001379" y="2609068"/>
            <a:ext cx="10439" cy="39359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 flipV="1">
            <a:off x="7690761" y="5012070"/>
            <a:ext cx="700213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 rot="5400000" flipV="1">
            <a:off x="6684570" y="1979380"/>
            <a:ext cx="636557" cy="29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타원 78"/>
          <p:cNvSpPr/>
          <p:nvPr/>
        </p:nvSpPr>
        <p:spPr>
          <a:xfrm flipV="1">
            <a:off x="7539070" y="2630568"/>
            <a:ext cx="170723" cy="1561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80" name="그림 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40" y="3002661"/>
            <a:ext cx="338850" cy="326748"/>
          </a:xfrm>
          <a:prstGeom prst="rect">
            <a:avLst/>
          </a:prstGeom>
        </p:spPr>
      </p:pic>
      <p:pic>
        <p:nvPicPr>
          <p:cNvPr id="81" name="그림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534" y="3020804"/>
            <a:ext cx="338850" cy="326748"/>
          </a:xfrm>
          <a:prstGeom prst="rect">
            <a:avLst/>
          </a:prstGeom>
        </p:spPr>
      </p:pic>
      <p:cxnSp>
        <p:nvCxnSpPr>
          <p:cNvPr id="83" name="직선 연결선 82"/>
          <p:cNvCxnSpPr/>
          <p:nvPr/>
        </p:nvCxnSpPr>
        <p:spPr>
          <a:xfrm>
            <a:off x="1229516" y="3178298"/>
            <a:ext cx="1935849" cy="5881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타원 86"/>
          <p:cNvSpPr/>
          <p:nvPr/>
        </p:nvSpPr>
        <p:spPr>
          <a:xfrm flipV="1">
            <a:off x="9949925" y="5291568"/>
            <a:ext cx="170723" cy="1561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90" name="꺾인 연결선 89"/>
          <p:cNvCxnSpPr>
            <a:endCxn id="67" idx="0"/>
          </p:cNvCxnSpPr>
          <p:nvPr/>
        </p:nvCxnSpPr>
        <p:spPr>
          <a:xfrm rot="16200000" flipH="1">
            <a:off x="2405378" y="3893933"/>
            <a:ext cx="569501" cy="249240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endCxn id="67" idx="0"/>
          </p:cNvCxnSpPr>
          <p:nvPr/>
        </p:nvCxnSpPr>
        <p:spPr>
          <a:xfrm rot="5400000">
            <a:off x="2522636" y="3913999"/>
            <a:ext cx="681419" cy="97193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 97"/>
          <p:cNvCxnSpPr/>
          <p:nvPr/>
        </p:nvCxnSpPr>
        <p:spPr>
          <a:xfrm rot="16200000" flipH="1">
            <a:off x="4008889" y="3921113"/>
            <a:ext cx="564022" cy="189404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꺾인 연결선 98"/>
          <p:cNvCxnSpPr/>
          <p:nvPr/>
        </p:nvCxnSpPr>
        <p:spPr>
          <a:xfrm rot="5400000">
            <a:off x="4093490" y="3908522"/>
            <a:ext cx="681419" cy="97193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타원 102"/>
          <p:cNvSpPr/>
          <p:nvPr/>
        </p:nvSpPr>
        <p:spPr>
          <a:xfrm flipV="1">
            <a:off x="9949925" y="4869490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4" name="타원 103"/>
          <p:cNvSpPr/>
          <p:nvPr/>
        </p:nvSpPr>
        <p:spPr>
          <a:xfrm flipV="1">
            <a:off x="2472939" y="3641865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5" name="타원 104"/>
          <p:cNvSpPr/>
          <p:nvPr/>
        </p:nvSpPr>
        <p:spPr>
          <a:xfrm flipV="1">
            <a:off x="2826580" y="3538359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6" name="타원 105"/>
          <p:cNvSpPr/>
          <p:nvPr/>
        </p:nvSpPr>
        <p:spPr>
          <a:xfrm flipV="1">
            <a:off x="4090175" y="3641865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7" name="타원 106"/>
          <p:cNvSpPr/>
          <p:nvPr/>
        </p:nvSpPr>
        <p:spPr>
          <a:xfrm flipV="1">
            <a:off x="4377657" y="3576107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8" name="타원 107"/>
          <p:cNvSpPr/>
          <p:nvPr/>
        </p:nvSpPr>
        <p:spPr>
          <a:xfrm flipV="1">
            <a:off x="6412408" y="2358243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9" name="타원 108"/>
          <p:cNvSpPr/>
          <p:nvPr/>
        </p:nvSpPr>
        <p:spPr>
          <a:xfrm flipV="1">
            <a:off x="5663956" y="2447723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10" name="꺾인 연결선 109"/>
          <p:cNvCxnSpPr>
            <a:stCxn id="109" idx="7"/>
            <a:endCxn id="48" idx="1"/>
          </p:cNvCxnSpPr>
          <p:nvPr/>
        </p:nvCxnSpPr>
        <p:spPr>
          <a:xfrm rot="5400000" flipH="1" flipV="1">
            <a:off x="6213119" y="2059452"/>
            <a:ext cx="118068" cy="924953"/>
          </a:xfrm>
          <a:prstGeom prst="bentConnector4">
            <a:avLst>
              <a:gd name="adj1" fmla="val -193617"/>
              <a:gd name="adj2" fmla="val 51351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꺾인 연결선 110"/>
          <p:cNvCxnSpPr>
            <a:endCxn id="48" idx="1"/>
          </p:cNvCxnSpPr>
          <p:nvPr/>
        </p:nvCxnSpPr>
        <p:spPr>
          <a:xfrm rot="16200000" flipV="1">
            <a:off x="6728592" y="2468934"/>
            <a:ext cx="140929" cy="128852"/>
          </a:xfrm>
          <a:prstGeom prst="bentConnector4">
            <a:avLst>
              <a:gd name="adj1" fmla="val 25431"/>
              <a:gd name="adj2" fmla="val 277413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2643662" y="1662570"/>
            <a:ext cx="3299938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smtClean="0"/>
              <a:t>예시화면</a:t>
            </a:r>
            <a:endParaRPr lang="ko-KR" altLang="en-US" sz="2800"/>
          </a:p>
        </p:txBody>
      </p:sp>
    </p:spTree>
    <p:extLst>
      <p:ext uri="{BB962C8B-B14F-4D97-AF65-F5344CB8AC3E}">
        <p14:creationId xmlns:p14="http://schemas.microsoft.com/office/powerpoint/2010/main" val="2249056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3756" t="18478" r="12199" b="18175"/>
          <a:stretch/>
        </p:blipFill>
        <p:spPr>
          <a:xfrm>
            <a:off x="300263" y="1037309"/>
            <a:ext cx="8376188" cy="44437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34" name="표 33"/>
          <p:cNvGraphicFramePr>
            <a:graphicFrameLocks noGrp="1"/>
          </p:cNvGraphicFramePr>
          <p:nvPr>
            <p:extLst/>
          </p:nvPr>
        </p:nvGraphicFramePr>
        <p:xfrm>
          <a:off x="8906200" y="927712"/>
          <a:ext cx="3025140" cy="4671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919102175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704467390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1754126437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3925899619"/>
                    </a:ext>
                  </a:extLst>
                </a:gridCol>
              </a:tblGrid>
              <a:tr h="3578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구분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기호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단위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수량</a:t>
                      </a:r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79303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UTP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100m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654358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STP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100m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4355155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전기케이블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100m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976640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HI-BOX</a:t>
                      </a:r>
                    </a:p>
                    <a:p>
                      <a:pPr algn="ctr" latinLnBrk="1"/>
                      <a:r>
                        <a:rPr lang="en-US" altLang="ko-KR" sz="1200" b="1" smtClean="0"/>
                        <a:t>(</a:t>
                      </a:r>
                      <a:r>
                        <a:rPr lang="ko-KR" altLang="en-US" sz="1200" b="1" smtClean="0"/>
                        <a:t>허브</a:t>
                      </a:r>
                      <a:r>
                        <a:rPr lang="en-US" altLang="ko-KR" sz="1200" b="1" smtClean="0"/>
                        <a:t>)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52600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공유기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1054381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무선</a:t>
                      </a:r>
                      <a:r>
                        <a:rPr lang="en-US" altLang="ko-KR" sz="1200" b="1" smtClean="0"/>
                        <a:t>AP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24516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기타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5588136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기타</a:t>
                      </a:r>
                      <a:r>
                        <a:rPr lang="en-US" altLang="ko-KR" sz="1200" b="1" smtClean="0"/>
                        <a:t>.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218675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Point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6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68942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Main</a:t>
                      </a:r>
                    </a:p>
                    <a:p>
                      <a:pPr algn="ctr" latinLnBrk="1"/>
                      <a:r>
                        <a:rPr lang="ko-KR" altLang="en-US" sz="1200" smtClean="0"/>
                        <a:t>공유기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6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7085"/>
                  </a:ext>
                </a:extLst>
              </a:tr>
            </a:tbl>
          </a:graphicData>
        </a:graphic>
      </p:graphicFrame>
      <p:cxnSp>
        <p:nvCxnSpPr>
          <p:cNvPr id="23" name="직선 연결선 22"/>
          <p:cNvCxnSpPr/>
          <p:nvPr/>
        </p:nvCxnSpPr>
        <p:spPr>
          <a:xfrm flipV="1">
            <a:off x="6791278" y="4820720"/>
            <a:ext cx="1651065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V="1">
            <a:off x="9698628" y="1465278"/>
            <a:ext cx="700213" cy="762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rot="5400000" flipV="1">
            <a:off x="7724065" y="4334565"/>
            <a:ext cx="1651065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rot="16200000" flipV="1">
            <a:off x="354713" y="3899418"/>
            <a:ext cx="1651065" cy="7620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9698628" y="2303928"/>
            <a:ext cx="700213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V="1">
            <a:off x="1168366" y="4605401"/>
            <a:ext cx="3993999" cy="24524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V="1">
            <a:off x="9698628" y="1875950"/>
            <a:ext cx="700213" cy="762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림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001" y="3512842"/>
            <a:ext cx="338850" cy="32674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8993" y="3047960"/>
            <a:ext cx="492987" cy="374464"/>
          </a:xfrm>
          <a:prstGeom prst="rect">
            <a:avLst/>
          </a:prstGeom>
        </p:spPr>
      </p:pic>
      <p:grpSp>
        <p:nvGrpSpPr>
          <p:cNvPr id="49" name="그룹 48"/>
          <p:cNvGrpSpPr/>
          <p:nvPr/>
        </p:nvGrpSpPr>
        <p:grpSpPr>
          <a:xfrm>
            <a:off x="6734630" y="2277516"/>
            <a:ext cx="528114" cy="343845"/>
            <a:chOff x="5831943" y="1411165"/>
            <a:chExt cx="528114" cy="343845"/>
          </a:xfrm>
        </p:grpSpPr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1-01</a:t>
              </a:r>
              <a:endParaRPr lang="ko-KR" altLang="en-US" sz="900" b="1"/>
            </a:p>
          </p:txBody>
        </p:sp>
      </p:grpSp>
      <p:graphicFrame>
        <p:nvGraphicFramePr>
          <p:cNvPr id="50" name="표 49"/>
          <p:cNvGraphicFramePr>
            <a:graphicFrameLocks noGrp="1"/>
          </p:cNvGraphicFramePr>
          <p:nvPr>
            <p:extLst/>
          </p:nvPr>
        </p:nvGraphicFramePr>
        <p:xfrm>
          <a:off x="300264" y="5627495"/>
          <a:ext cx="1161098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543">
                  <a:extLst>
                    <a:ext uri="{9D8B030D-6E8A-4147-A177-3AD203B41FA5}">
                      <a16:colId xmlns:a16="http://schemas.microsoft.com/office/drawing/2014/main" val="823192170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054864963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34658470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996741434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29236207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572809907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2727405988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29285331"/>
                    </a:ext>
                  </a:extLst>
                </a:gridCol>
                <a:gridCol w="450698">
                  <a:extLst>
                    <a:ext uri="{9D8B030D-6E8A-4147-A177-3AD203B41FA5}">
                      <a16:colId xmlns:a16="http://schemas.microsoft.com/office/drawing/2014/main" val="2410904536"/>
                    </a:ext>
                  </a:extLst>
                </a:gridCol>
                <a:gridCol w="604846">
                  <a:extLst>
                    <a:ext uri="{9D8B030D-6E8A-4147-A177-3AD203B41FA5}">
                      <a16:colId xmlns:a16="http://schemas.microsoft.com/office/drawing/2014/main" val="1691921175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2906100793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0124815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731450017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601761706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732772209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523539211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43224731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468034055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173956341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119038276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079252770"/>
                    </a:ext>
                  </a:extLst>
                </a:gridCol>
              </a:tblGrid>
              <a:tr h="226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HI-BOX NO.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1-01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1-02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1-03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…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2-01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2-02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…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3-01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3-02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…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808592"/>
                  </a:ext>
                </a:extLst>
              </a:tr>
              <a:tr h="201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허브 제조사</a:t>
                      </a:r>
                      <a:endParaRPr lang="ko-KR" altLang="en-US" sz="10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ipTIME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ipTIME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ipTIME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0733"/>
                  </a:ext>
                </a:extLst>
              </a:tr>
              <a:tr h="201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포트 수</a:t>
                      </a:r>
                      <a:endParaRPr lang="ko-KR" altLang="en-US" sz="10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980564"/>
                  </a:ext>
                </a:extLst>
              </a:tr>
              <a:tr h="579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LAN</a:t>
                      </a:r>
                      <a:r>
                        <a:rPr lang="en-US" altLang="ko-KR" sz="1000" baseline="0" smtClean="0"/>
                        <a:t> NO.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1-1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1-2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2-1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3-1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3-2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4-1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4-2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  <a:p>
                      <a:pPr algn="ctr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…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778621"/>
                  </a:ext>
                </a:extLst>
              </a:tr>
              <a:tr h="201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비고</a:t>
                      </a:r>
                      <a:endParaRPr lang="ko-KR" altLang="en-US" sz="10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1- </a:t>
                      </a:r>
                      <a:r>
                        <a:rPr lang="ko-KR" altLang="en-US" sz="1000" smtClean="0">
                          <a:solidFill>
                            <a:srgbClr val="FF0000"/>
                          </a:solidFill>
                        </a:rPr>
                        <a:t>보온로</a:t>
                      </a:r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  <a:p>
                      <a:pPr algn="l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2- </a:t>
                      </a:r>
                      <a:r>
                        <a:rPr lang="ko-KR" altLang="en-US" sz="1000" smtClean="0">
                          <a:solidFill>
                            <a:srgbClr val="FF0000"/>
                          </a:solidFill>
                        </a:rPr>
                        <a:t>주조기</a:t>
                      </a:r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  <a:p>
                      <a:pPr algn="l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3-</a:t>
                      </a:r>
                      <a:r>
                        <a:rPr lang="en-US" altLang="ko-KR" sz="1000" baseline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aseline="0" smtClean="0">
                          <a:solidFill>
                            <a:srgbClr val="FF0000"/>
                          </a:solidFill>
                        </a:rPr>
                        <a:t>냉각수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4-</a:t>
                      </a:r>
                      <a:r>
                        <a:rPr lang="en-US" altLang="ko-KR" sz="1000" baseline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smtClean="0">
                          <a:solidFill>
                            <a:srgbClr val="FF0000"/>
                          </a:solidFill>
                        </a:rPr>
                        <a:t>용해로</a:t>
                      </a:r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  <a:p>
                      <a:pPr algn="l" latinLnBrk="1"/>
                      <a:r>
                        <a:rPr lang="en-US" altLang="ko-KR" sz="1000" smtClean="0">
                          <a:solidFill>
                            <a:srgbClr val="FF0000"/>
                          </a:solidFill>
                        </a:rPr>
                        <a:t>5- GBF</a:t>
                      </a:r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294231"/>
                  </a:ext>
                </a:extLst>
              </a:tr>
            </a:tbl>
          </a:graphicData>
        </a:graphic>
      </p:graphicFrame>
      <p:grpSp>
        <p:nvGrpSpPr>
          <p:cNvPr id="55" name="그룹 54"/>
          <p:cNvGrpSpPr/>
          <p:nvPr/>
        </p:nvGrpSpPr>
        <p:grpSpPr>
          <a:xfrm>
            <a:off x="9724910" y="2606440"/>
            <a:ext cx="528114" cy="343845"/>
            <a:chOff x="5831943" y="1411165"/>
            <a:chExt cx="528114" cy="343845"/>
          </a:xfrm>
        </p:grpSpPr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x-xx</a:t>
              </a:r>
              <a:endParaRPr lang="ko-KR" altLang="en-US" sz="900" b="1"/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300263" y="301860"/>
            <a:ext cx="721496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/>
              <a:t>OOOO </a:t>
            </a:r>
            <a:r>
              <a:rPr lang="ko-KR" altLang="en-US"/>
              <a:t>네트워크 구성도 </a:t>
            </a:r>
            <a:r>
              <a:rPr lang="en-US" altLang="ko-KR"/>
              <a:t>(LAY-OUT)</a:t>
            </a:r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10546036" y="326663"/>
            <a:ext cx="137577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/>
              <a:t>PAGE </a:t>
            </a:r>
            <a:r>
              <a:rPr lang="en-US" altLang="ko-KR"/>
              <a:t>3</a:t>
            </a:r>
            <a:r>
              <a:rPr lang="en-US" altLang="ko-KR" smtClean="0"/>
              <a:t>/3</a:t>
            </a:r>
            <a:endParaRPr lang="ko-KR" altLang="en-US"/>
          </a:p>
        </p:txBody>
      </p:sp>
      <p:grpSp>
        <p:nvGrpSpPr>
          <p:cNvPr id="63" name="그룹 62"/>
          <p:cNvGrpSpPr/>
          <p:nvPr/>
        </p:nvGrpSpPr>
        <p:grpSpPr>
          <a:xfrm>
            <a:off x="4099604" y="4289850"/>
            <a:ext cx="528114" cy="343845"/>
            <a:chOff x="5831943" y="1411165"/>
            <a:chExt cx="528114" cy="343845"/>
          </a:xfrm>
        </p:grpSpPr>
        <p:pic>
          <p:nvPicPr>
            <p:cNvPr id="64" name="그림 63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1-02</a:t>
              </a:r>
              <a:endParaRPr lang="ko-KR" altLang="en-US" sz="900" b="1"/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2550690" y="4303305"/>
            <a:ext cx="528114" cy="343845"/>
            <a:chOff x="5831943" y="1411165"/>
            <a:chExt cx="528114" cy="343845"/>
          </a:xfrm>
        </p:grpSpPr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1-03</a:t>
              </a:r>
              <a:endParaRPr lang="ko-KR" altLang="en-US" sz="900" b="1"/>
            </a:p>
          </p:txBody>
        </p:sp>
      </p:grpSp>
      <p:cxnSp>
        <p:nvCxnSpPr>
          <p:cNvPr id="69" name="직선 연결선 68"/>
          <p:cNvCxnSpPr/>
          <p:nvPr/>
        </p:nvCxnSpPr>
        <p:spPr>
          <a:xfrm rot="16200000" flipV="1">
            <a:off x="4327813" y="3783678"/>
            <a:ext cx="1651065" cy="7620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 flipH="1" flipV="1">
            <a:off x="7616811" y="2721223"/>
            <a:ext cx="7620" cy="281438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 flipV="1">
            <a:off x="5149535" y="2978859"/>
            <a:ext cx="2467277" cy="23802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 flipV="1">
            <a:off x="7001379" y="2609068"/>
            <a:ext cx="10439" cy="39359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 flipV="1">
            <a:off x="7690761" y="5012070"/>
            <a:ext cx="700213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 rot="5400000" flipV="1">
            <a:off x="6684570" y="1979380"/>
            <a:ext cx="636557" cy="29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타원 78"/>
          <p:cNvSpPr/>
          <p:nvPr/>
        </p:nvSpPr>
        <p:spPr>
          <a:xfrm flipV="1">
            <a:off x="7539070" y="2630568"/>
            <a:ext cx="170723" cy="1561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80" name="그림 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40" y="3002661"/>
            <a:ext cx="338850" cy="326748"/>
          </a:xfrm>
          <a:prstGeom prst="rect">
            <a:avLst/>
          </a:prstGeom>
        </p:spPr>
      </p:pic>
      <p:pic>
        <p:nvPicPr>
          <p:cNvPr id="81" name="그림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534" y="3020804"/>
            <a:ext cx="338850" cy="326748"/>
          </a:xfrm>
          <a:prstGeom prst="rect">
            <a:avLst/>
          </a:prstGeom>
        </p:spPr>
      </p:pic>
      <p:cxnSp>
        <p:nvCxnSpPr>
          <p:cNvPr id="83" name="직선 연결선 82"/>
          <p:cNvCxnSpPr/>
          <p:nvPr/>
        </p:nvCxnSpPr>
        <p:spPr>
          <a:xfrm>
            <a:off x="1229516" y="3178298"/>
            <a:ext cx="1935849" cy="5881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타원 86"/>
          <p:cNvSpPr/>
          <p:nvPr/>
        </p:nvSpPr>
        <p:spPr>
          <a:xfrm flipV="1">
            <a:off x="9949925" y="5291568"/>
            <a:ext cx="170723" cy="1561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90" name="꺾인 연결선 89"/>
          <p:cNvCxnSpPr>
            <a:endCxn id="67" idx="0"/>
          </p:cNvCxnSpPr>
          <p:nvPr/>
        </p:nvCxnSpPr>
        <p:spPr>
          <a:xfrm rot="16200000" flipH="1">
            <a:off x="2405378" y="3893933"/>
            <a:ext cx="569501" cy="249240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endCxn id="67" idx="0"/>
          </p:cNvCxnSpPr>
          <p:nvPr/>
        </p:nvCxnSpPr>
        <p:spPr>
          <a:xfrm rot="5400000">
            <a:off x="2522636" y="3913999"/>
            <a:ext cx="681419" cy="97193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 97"/>
          <p:cNvCxnSpPr/>
          <p:nvPr/>
        </p:nvCxnSpPr>
        <p:spPr>
          <a:xfrm rot="16200000" flipH="1">
            <a:off x="4008889" y="3921113"/>
            <a:ext cx="564022" cy="189404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꺾인 연결선 98"/>
          <p:cNvCxnSpPr/>
          <p:nvPr/>
        </p:nvCxnSpPr>
        <p:spPr>
          <a:xfrm rot="5400000">
            <a:off x="4093490" y="3908522"/>
            <a:ext cx="681419" cy="97193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타원 102"/>
          <p:cNvSpPr/>
          <p:nvPr/>
        </p:nvSpPr>
        <p:spPr>
          <a:xfrm flipV="1">
            <a:off x="9949925" y="4869490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4" name="타원 103"/>
          <p:cNvSpPr/>
          <p:nvPr/>
        </p:nvSpPr>
        <p:spPr>
          <a:xfrm flipV="1">
            <a:off x="2472939" y="3641865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5" name="타원 104"/>
          <p:cNvSpPr/>
          <p:nvPr/>
        </p:nvSpPr>
        <p:spPr>
          <a:xfrm flipV="1">
            <a:off x="2826580" y="3538359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6" name="타원 105"/>
          <p:cNvSpPr/>
          <p:nvPr/>
        </p:nvSpPr>
        <p:spPr>
          <a:xfrm flipV="1">
            <a:off x="4090175" y="3641865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7" name="타원 106"/>
          <p:cNvSpPr/>
          <p:nvPr/>
        </p:nvSpPr>
        <p:spPr>
          <a:xfrm flipV="1">
            <a:off x="4377657" y="3576107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8" name="타원 107"/>
          <p:cNvSpPr/>
          <p:nvPr/>
        </p:nvSpPr>
        <p:spPr>
          <a:xfrm flipV="1">
            <a:off x="6412408" y="2358243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9" name="타원 108"/>
          <p:cNvSpPr/>
          <p:nvPr/>
        </p:nvSpPr>
        <p:spPr>
          <a:xfrm flipV="1">
            <a:off x="5663956" y="2447723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10" name="꺾인 연결선 109"/>
          <p:cNvCxnSpPr>
            <a:stCxn id="109" idx="7"/>
            <a:endCxn id="48" idx="1"/>
          </p:cNvCxnSpPr>
          <p:nvPr/>
        </p:nvCxnSpPr>
        <p:spPr>
          <a:xfrm rot="5400000" flipH="1" flipV="1">
            <a:off x="6213119" y="2059452"/>
            <a:ext cx="118068" cy="924953"/>
          </a:xfrm>
          <a:prstGeom prst="bentConnector4">
            <a:avLst>
              <a:gd name="adj1" fmla="val -193617"/>
              <a:gd name="adj2" fmla="val 51351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꺾인 연결선 110"/>
          <p:cNvCxnSpPr>
            <a:endCxn id="48" idx="1"/>
          </p:cNvCxnSpPr>
          <p:nvPr/>
        </p:nvCxnSpPr>
        <p:spPr>
          <a:xfrm rot="16200000" flipV="1">
            <a:off x="6728592" y="2468934"/>
            <a:ext cx="140929" cy="128852"/>
          </a:xfrm>
          <a:prstGeom prst="bentConnector4">
            <a:avLst>
              <a:gd name="adj1" fmla="val 25431"/>
              <a:gd name="adj2" fmla="val 277413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2643662" y="1662570"/>
            <a:ext cx="3299938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smtClean="0"/>
              <a:t>예시화면</a:t>
            </a:r>
            <a:endParaRPr lang="ko-KR" altLang="en-US" sz="2800"/>
          </a:p>
        </p:txBody>
      </p:sp>
    </p:spTree>
    <p:extLst>
      <p:ext uri="{BB962C8B-B14F-4D97-AF65-F5344CB8AC3E}">
        <p14:creationId xmlns:p14="http://schemas.microsoft.com/office/powerpoint/2010/main" val="1147733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404</TotalTime>
  <Words>371</Words>
  <Application>Microsoft Office PowerPoint</Application>
  <PresentationFormat>사용자 지정</PresentationFormat>
  <Paragraphs>247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Calibri Light</vt:lpstr>
      <vt:lpstr>Office 테마</vt:lpstr>
      <vt:lpstr>0000 네트워크 공사계획서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이상민</dc:creator>
  <cp:lastModifiedBy>이상민</cp:lastModifiedBy>
  <cp:revision>38</cp:revision>
  <cp:lastPrinted>2018-01-29T00:37:08Z</cp:lastPrinted>
  <dcterms:created xsi:type="dcterms:W3CDTF">2017-05-11T01:53:14Z</dcterms:created>
  <dcterms:modified xsi:type="dcterms:W3CDTF">2018-01-29T01:02:33Z</dcterms:modified>
</cp:coreProperties>
</file>